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igra Ultra-Bold" charset="1" panose="00000900000000000000"/>
      <p:regular r:id="rId13"/>
    </p:embeddedFont>
    <p:embeddedFont>
      <p:font typeface="Open Sans" charset="1" panose="020B0606030504020204"/>
      <p:regular r:id="rId14"/>
    </p:embeddedFont>
    <p:embeddedFont>
      <p:font typeface="Montserrat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21943">
            <a:off x="13216109" y="-1183177"/>
            <a:ext cx="7085175" cy="10560558"/>
          </a:xfrm>
          <a:custGeom>
            <a:avLst/>
            <a:gdLst/>
            <a:ahLst/>
            <a:cxnLst/>
            <a:rect r="r" b="b" t="t" l="l"/>
            <a:pathLst>
              <a:path h="10560558" w="7085175">
                <a:moveTo>
                  <a:pt x="0" y="0"/>
                </a:moveTo>
                <a:lnTo>
                  <a:pt x="7085174" y="0"/>
                </a:lnTo>
                <a:lnTo>
                  <a:pt x="7085174" y="10560558"/>
                </a:lnTo>
                <a:lnTo>
                  <a:pt x="0" y="105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66129" y="-3221691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8" y="0"/>
                </a:lnTo>
                <a:lnTo>
                  <a:pt x="6903798" y="6903798"/>
                </a:lnTo>
                <a:lnTo>
                  <a:pt x="0" y="6903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48134" y="6491289"/>
            <a:ext cx="2495341" cy="2767011"/>
          </a:xfrm>
          <a:custGeom>
            <a:avLst/>
            <a:gdLst/>
            <a:ahLst/>
            <a:cxnLst/>
            <a:rect r="r" b="b" t="t" l="l"/>
            <a:pathLst>
              <a:path h="2767011" w="2495341">
                <a:moveTo>
                  <a:pt x="0" y="0"/>
                </a:moveTo>
                <a:lnTo>
                  <a:pt x="2495341" y="0"/>
                </a:lnTo>
                <a:lnTo>
                  <a:pt x="2495341" y="2767011"/>
                </a:lnTo>
                <a:lnTo>
                  <a:pt x="0" y="2767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0716" y="906919"/>
            <a:ext cx="10542901" cy="54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9"/>
              </a:lnSpc>
            </a:pPr>
            <a:r>
              <a:rPr lang="en-US" sz="10379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Sistema de control de préstamos de biblioteca escolar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6834" y="8934767"/>
            <a:ext cx="33969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Grupo: 3DSM-G1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259880" y="6424614"/>
            <a:ext cx="886612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Integrante: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Jonathan Alberto Treto Diaz 23300079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Kevin Yair Lemus Ortega 25300771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Angel Raziel Orozco Peña 243301804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25956" y="639739"/>
            <a:ext cx="8016580" cy="197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4"/>
              </a:lnSpc>
            </a:pPr>
            <a:r>
              <a:rPr lang="en-US" b="true" sz="7374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Problemas Encontrados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4012" y="2560096"/>
            <a:ext cx="9727438" cy="316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6291" indent="-328146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REGISTRO MANUAL MEDIANTE LIBRETAS</a:t>
            </a:r>
          </a:p>
          <a:p>
            <a:pPr algn="ctr" marL="656291" indent="-328146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PÉRDIDA DE INFORMACIÓN</a:t>
            </a:r>
          </a:p>
          <a:p>
            <a:pPr algn="ctr" marL="656291" indent="-328146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RETRASOS EN DEVOLUCIONES</a:t>
            </a:r>
          </a:p>
          <a:p>
            <a:pPr algn="ctr" marL="656291" indent="-328146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MALA ORGANIZACIÓN DEL INVENTARIO</a:t>
            </a:r>
          </a:p>
          <a:p>
            <a:pPr algn="ctr" marL="656291" indent="-328146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DIFICULTAD PARA CONSULTAR DISPONIBILIDAD DE LIBROS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507900">
            <a:off x="13441371" y="2495872"/>
            <a:ext cx="7085175" cy="10560558"/>
          </a:xfrm>
          <a:custGeom>
            <a:avLst/>
            <a:gdLst/>
            <a:ahLst/>
            <a:cxnLst/>
            <a:rect r="r" b="b" t="t" l="l"/>
            <a:pathLst>
              <a:path h="10560558" w="7085175">
                <a:moveTo>
                  <a:pt x="0" y="0"/>
                </a:moveTo>
                <a:lnTo>
                  <a:pt x="7085174" y="0"/>
                </a:lnTo>
                <a:lnTo>
                  <a:pt x="7085174" y="10560558"/>
                </a:lnTo>
                <a:lnTo>
                  <a:pt x="0" y="105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385956">
            <a:off x="12592149" y="-1488576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7" y="0"/>
                </a:lnTo>
                <a:lnTo>
                  <a:pt x="6903797" y="6903798"/>
                </a:lnTo>
                <a:lnTo>
                  <a:pt x="0" y="6903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385956">
            <a:off x="11287324" y="4597619"/>
            <a:ext cx="2495341" cy="2767011"/>
          </a:xfrm>
          <a:custGeom>
            <a:avLst/>
            <a:gdLst/>
            <a:ahLst/>
            <a:cxnLst/>
            <a:rect r="r" b="b" t="t" l="l"/>
            <a:pathLst>
              <a:path h="2767011" w="2495341">
                <a:moveTo>
                  <a:pt x="0" y="0"/>
                </a:moveTo>
                <a:lnTo>
                  <a:pt x="2495341" y="0"/>
                </a:lnTo>
                <a:lnTo>
                  <a:pt x="2495341" y="2767011"/>
                </a:lnTo>
                <a:lnTo>
                  <a:pt x="0" y="2767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610980" y="6265316"/>
            <a:ext cx="9499973" cy="124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8"/>
              </a:lnSpc>
            </a:pPr>
            <a:r>
              <a:rPr lang="en-US" b="true" sz="8738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Consecuencias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25971" y="7450288"/>
            <a:ext cx="9727438" cy="263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6291" indent="-328146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ERRORES EN PRÉSTAMOS</a:t>
            </a:r>
          </a:p>
          <a:p>
            <a:pPr algn="ctr" marL="656291" indent="-328146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Desorganización</a:t>
            </a:r>
          </a:p>
          <a:p>
            <a:pPr algn="ctr" marL="656291" indent="-328146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Mayor tiempo de búsqueda</a:t>
            </a:r>
          </a:p>
          <a:p>
            <a:pPr algn="ctr" marL="656291" indent="-328146" lvl="1">
              <a:lnSpc>
                <a:spcPts val="4255"/>
              </a:lnSpc>
              <a:buFont typeface="Arial"/>
              <a:buChar char="•"/>
            </a:pPr>
            <a:r>
              <a:rPr lang="en-US" sz="303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Dificultad para dar seguimiento</a:t>
            </a:r>
          </a:p>
          <a:p>
            <a:pPr algn="ctr">
              <a:lnSpc>
                <a:spcPts val="425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8947" y="2522011"/>
            <a:ext cx="6363645" cy="182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9"/>
              </a:lnSpc>
            </a:pPr>
            <a:r>
              <a:rPr lang="en-US" sz="6819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Información necesaria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95184" y="2773911"/>
            <a:ext cx="6674620" cy="180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8"/>
              </a:lnSpc>
            </a:pPr>
            <a:r>
              <a:rPr lang="en-US" sz="6768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Usuarios del sistema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4731" y="4436943"/>
            <a:ext cx="8173811" cy="327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260" indent="-284630" lvl="1">
              <a:lnSpc>
                <a:spcPts val="5299"/>
              </a:lnSpc>
              <a:buFont typeface="Arial"/>
              <a:buChar char="•"/>
            </a:pPr>
            <a:r>
              <a:rPr lang="en-US" sz="2636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DATOS DE LIBROS</a:t>
            </a:r>
          </a:p>
          <a:p>
            <a:pPr algn="l" marL="569260" indent="-284630" lvl="1">
              <a:lnSpc>
                <a:spcPts val="5299"/>
              </a:lnSpc>
              <a:buFont typeface="Arial"/>
              <a:buChar char="•"/>
            </a:pPr>
            <a:r>
              <a:rPr lang="en-US" sz="2636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Datos de usuarios</a:t>
            </a:r>
          </a:p>
          <a:p>
            <a:pPr algn="l" marL="569260" indent="-284630" lvl="1">
              <a:lnSpc>
                <a:spcPts val="5299"/>
              </a:lnSpc>
              <a:buFont typeface="Arial"/>
              <a:buChar char="•"/>
            </a:pPr>
            <a:r>
              <a:rPr lang="en-US" sz="2636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Fechas de préstamo y devolución</a:t>
            </a:r>
          </a:p>
          <a:p>
            <a:pPr algn="l" marL="569260" indent="-284630" lvl="1">
              <a:lnSpc>
                <a:spcPts val="5299"/>
              </a:lnSpc>
              <a:buFont typeface="Arial"/>
              <a:buChar char="•"/>
            </a:pPr>
            <a:r>
              <a:rPr lang="en-US" sz="2636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Estado de préstamos</a:t>
            </a:r>
          </a:p>
          <a:p>
            <a:pPr algn="l" marL="569260" indent="-284630" lvl="1">
              <a:lnSpc>
                <a:spcPts val="5299"/>
              </a:lnSpc>
              <a:buFont typeface="Arial"/>
              <a:buChar char="•"/>
            </a:pPr>
            <a:r>
              <a:rPr lang="en-US" sz="2636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Disponibilidad de libros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25263" y="4643688"/>
            <a:ext cx="6996705" cy="277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6848" indent="-303424" lvl="1">
              <a:lnSpc>
                <a:spcPts val="5649"/>
              </a:lnSpc>
              <a:buFont typeface="Arial"/>
              <a:buChar char="•"/>
            </a:pPr>
            <a:r>
              <a:rPr lang="en-US" sz="281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PERSONAL DE BIBLIOTECA</a:t>
            </a:r>
          </a:p>
          <a:p>
            <a:pPr algn="l" marL="606848" indent="-303424" lvl="1">
              <a:lnSpc>
                <a:spcPts val="5649"/>
              </a:lnSpc>
              <a:buFont typeface="Arial"/>
              <a:buChar char="•"/>
            </a:pPr>
            <a:r>
              <a:rPr lang="en-US" sz="281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Alumnos</a:t>
            </a:r>
          </a:p>
          <a:p>
            <a:pPr algn="l" marL="606848" indent="-303424" lvl="1">
              <a:lnSpc>
                <a:spcPts val="5649"/>
              </a:lnSpc>
              <a:buFont typeface="Arial"/>
              <a:buChar char="•"/>
            </a:pPr>
            <a:r>
              <a:rPr lang="en-US" sz="281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Docentes</a:t>
            </a:r>
          </a:p>
          <a:p>
            <a:pPr algn="l" marL="606848" indent="-303424" lvl="1">
              <a:lnSpc>
                <a:spcPts val="5649"/>
              </a:lnSpc>
              <a:buFont typeface="Arial"/>
              <a:buChar char="•"/>
            </a:pPr>
            <a:r>
              <a:rPr lang="en-US" sz="2810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escolar</a:t>
            </a:r>
          </a:p>
        </p:txBody>
      </p:sp>
      <p:sp>
        <p:nvSpPr>
          <p:cNvPr name="AutoShape 6" id="6"/>
          <p:cNvSpPr/>
          <p:nvPr/>
        </p:nvSpPr>
        <p:spPr>
          <a:xfrm rot="5400000">
            <a:off x="7008748" y="5639531"/>
            <a:ext cx="3846040" cy="0"/>
          </a:xfrm>
          <a:prstGeom prst="line">
            <a:avLst/>
          </a:prstGeom>
          <a:ln cap="flat" w="9525">
            <a:solidFill>
              <a:srgbClr val="6CE5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2385956">
            <a:off x="13962366" y="-2983358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7" y="0"/>
                </a:lnTo>
                <a:lnTo>
                  <a:pt x="6903797" y="6903798"/>
                </a:lnTo>
                <a:lnTo>
                  <a:pt x="0" y="6903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385956">
            <a:off x="6799910" y="7867782"/>
            <a:ext cx="3337263" cy="3700594"/>
          </a:xfrm>
          <a:custGeom>
            <a:avLst/>
            <a:gdLst/>
            <a:ahLst/>
            <a:cxnLst/>
            <a:rect r="r" b="b" t="t" l="l"/>
            <a:pathLst>
              <a:path h="3700594" w="3337263">
                <a:moveTo>
                  <a:pt x="0" y="0"/>
                </a:moveTo>
                <a:lnTo>
                  <a:pt x="3337263" y="0"/>
                </a:lnTo>
                <a:lnTo>
                  <a:pt x="3337263" y="3700594"/>
                </a:lnTo>
                <a:lnTo>
                  <a:pt x="0" y="3700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5760" y="541826"/>
            <a:ext cx="13662247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Entidades o tablas propuestas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385956">
            <a:off x="8913379" y="8358048"/>
            <a:ext cx="4908423" cy="4908423"/>
          </a:xfrm>
          <a:custGeom>
            <a:avLst/>
            <a:gdLst/>
            <a:ahLst/>
            <a:cxnLst/>
            <a:rect r="r" b="b" t="t" l="l"/>
            <a:pathLst>
              <a:path h="4908423" w="4908423">
                <a:moveTo>
                  <a:pt x="0" y="0"/>
                </a:moveTo>
                <a:lnTo>
                  <a:pt x="4908423" y="0"/>
                </a:lnTo>
                <a:lnTo>
                  <a:pt x="4908423" y="4908423"/>
                </a:lnTo>
                <a:lnTo>
                  <a:pt x="0" y="4908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85956">
            <a:off x="12413621" y="8887954"/>
            <a:ext cx="4008772" cy="4008772"/>
          </a:xfrm>
          <a:custGeom>
            <a:avLst/>
            <a:gdLst/>
            <a:ahLst/>
            <a:cxnLst/>
            <a:rect r="r" b="b" t="t" l="l"/>
            <a:pathLst>
              <a:path h="4008772" w="4008772">
                <a:moveTo>
                  <a:pt x="0" y="0"/>
                </a:moveTo>
                <a:lnTo>
                  <a:pt x="4008772" y="0"/>
                </a:lnTo>
                <a:lnTo>
                  <a:pt x="4008772" y="4008772"/>
                </a:lnTo>
                <a:lnTo>
                  <a:pt x="0" y="4008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385956">
            <a:off x="15458379" y="9188718"/>
            <a:ext cx="3759001" cy="3759001"/>
          </a:xfrm>
          <a:custGeom>
            <a:avLst/>
            <a:gdLst/>
            <a:ahLst/>
            <a:cxnLst/>
            <a:rect r="r" b="b" t="t" l="l"/>
            <a:pathLst>
              <a:path h="3759001" w="3759001">
                <a:moveTo>
                  <a:pt x="0" y="0"/>
                </a:moveTo>
                <a:lnTo>
                  <a:pt x="3759000" y="0"/>
                </a:lnTo>
                <a:lnTo>
                  <a:pt x="3759000" y="3759001"/>
                </a:lnTo>
                <a:lnTo>
                  <a:pt x="0" y="375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32205" y="-906354"/>
            <a:ext cx="3316857" cy="3677966"/>
          </a:xfrm>
          <a:custGeom>
            <a:avLst/>
            <a:gdLst/>
            <a:ahLst/>
            <a:cxnLst/>
            <a:rect r="r" b="b" t="t" l="l"/>
            <a:pathLst>
              <a:path h="3677966" w="3316857">
                <a:moveTo>
                  <a:pt x="0" y="0"/>
                </a:moveTo>
                <a:lnTo>
                  <a:pt x="3316856" y="0"/>
                </a:lnTo>
                <a:lnTo>
                  <a:pt x="3316856" y="3677966"/>
                </a:lnTo>
                <a:lnTo>
                  <a:pt x="0" y="3677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720" y="3451531"/>
            <a:ext cx="5573890" cy="9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Tabla libros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63860" y="2838287"/>
            <a:ext cx="5431336" cy="188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Tabla usuarios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59320" y="2565706"/>
            <a:ext cx="6028680" cy="188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Tabla préstamos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720" y="4381806"/>
            <a:ext cx="557389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ID del libro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Título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Autor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Categoría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Unidades disponibles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98248" y="4654387"/>
            <a:ext cx="624524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D d</a:t>
            </a: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el usuario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Nombre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Matrícula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Tipo de usuario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43495" y="4381806"/>
            <a:ext cx="488315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ID del préstamo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ID del usuario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ID del libro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Fecha de préstamo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61D3D"/>
                </a:solidFill>
                <a:latin typeface="Open Sans"/>
                <a:ea typeface="Open Sans"/>
                <a:cs typeface="Open Sans"/>
                <a:sym typeface="Open Sans"/>
              </a:rPr>
              <a:t>Estado del préstamo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8230" y="1095375"/>
            <a:ext cx="5596456" cy="188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Procesos principales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04832" y="1095375"/>
            <a:ext cx="5454468" cy="188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Relaciones entre tablas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6107" y="3009214"/>
            <a:ext cx="7461591" cy="427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591" indent="-378296" lvl="1">
              <a:lnSpc>
                <a:spcPts val="4906"/>
              </a:lnSpc>
              <a:buFont typeface="Arial"/>
              <a:buChar char="•"/>
            </a:pPr>
            <a:r>
              <a:rPr lang="en-US" sz="35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REGISTRO DE PRÉSTAMOS</a:t>
            </a:r>
          </a:p>
          <a:p>
            <a:pPr algn="l" marL="756591" indent="-378296" lvl="1">
              <a:lnSpc>
                <a:spcPts val="4906"/>
              </a:lnSpc>
              <a:buFont typeface="Arial"/>
              <a:buChar char="•"/>
            </a:pPr>
            <a:r>
              <a:rPr lang="en-US" sz="35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Registro de devoluciones</a:t>
            </a:r>
          </a:p>
          <a:p>
            <a:pPr algn="l" marL="756591" indent="-378296" lvl="1">
              <a:lnSpc>
                <a:spcPts val="4906"/>
              </a:lnSpc>
              <a:buFont typeface="Arial"/>
              <a:buChar char="•"/>
            </a:pPr>
            <a:r>
              <a:rPr lang="en-US" sz="35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Consulta de disponibilidad</a:t>
            </a:r>
          </a:p>
          <a:p>
            <a:pPr algn="l" marL="756591" indent="-378296" lvl="1">
              <a:lnSpc>
                <a:spcPts val="4906"/>
              </a:lnSpc>
              <a:buFont typeface="Arial"/>
              <a:buChar char="•"/>
            </a:pPr>
            <a:r>
              <a:rPr lang="en-US" sz="35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Consulta de préstamos</a:t>
            </a:r>
          </a:p>
          <a:p>
            <a:pPr algn="l" marL="756591" indent="-378296" lvl="1">
              <a:lnSpc>
                <a:spcPts val="4906"/>
              </a:lnSpc>
              <a:buFont typeface="Arial"/>
              <a:buChar char="•"/>
            </a:pPr>
            <a:r>
              <a:rPr lang="en-US" sz="35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Generación de reportes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52297" y="3356202"/>
            <a:ext cx="6159538" cy="3517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4566" indent="-312283" lvl="1">
              <a:lnSpc>
                <a:spcPts val="4049"/>
              </a:lnSpc>
              <a:buFont typeface="Arial"/>
              <a:buChar char="•"/>
            </a:pPr>
            <a:r>
              <a:rPr lang="en-US" sz="289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USUARIOS REALIZAN PRÉSTAMOS</a:t>
            </a:r>
          </a:p>
          <a:p>
            <a:pPr algn="l" marL="624566" indent="-312283" lvl="1">
              <a:lnSpc>
                <a:spcPts val="4049"/>
              </a:lnSpc>
              <a:buFont typeface="Arial"/>
              <a:buChar char="•"/>
            </a:pPr>
            <a:r>
              <a:rPr lang="en-US" sz="289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Libros se conectan con préstamos</a:t>
            </a:r>
          </a:p>
          <a:p>
            <a:pPr algn="l" marL="624566" indent="-312283" lvl="1">
              <a:lnSpc>
                <a:spcPts val="4049"/>
              </a:lnSpc>
              <a:buFont typeface="Arial"/>
              <a:buChar char="•"/>
            </a:pPr>
            <a:r>
              <a:rPr lang="en-US" sz="289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La disponibilidad cambia al prestar o devolver libros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270815">
            <a:off x="8963674" y="7862132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7" y="0"/>
                </a:lnTo>
                <a:lnTo>
                  <a:pt x="6903797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077939">
            <a:off x="3821637" y="7268853"/>
            <a:ext cx="5121852" cy="7634196"/>
          </a:xfrm>
          <a:custGeom>
            <a:avLst/>
            <a:gdLst/>
            <a:ahLst/>
            <a:cxnLst/>
            <a:rect r="r" b="b" t="t" l="l"/>
            <a:pathLst>
              <a:path h="7634196" w="5121852">
                <a:moveTo>
                  <a:pt x="0" y="0"/>
                </a:moveTo>
                <a:lnTo>
                  <a:pt x="5121852" y="0"/>
                </a:lnTo>
                <a:lnTo>
                  <a:pt x="5121852" y="7634196"/>
                </a:lnTo>
                <a:lnTo>
                  <a:pt x="0" y="7634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05478"/>
            <a:ext cx="5420253" cy="1873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6911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Consultas y reportes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57884"/>
            <a:ext cx="6407556" cy="541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862" indent="-37343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Consulta de disponibilidad</a:t>
            </a:r>
          </a:p>
          <a:p>
            <a:pPr algn="l" marL="746862" indent="-37343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Consulta de existencia</a:t>
            </a:r>
          </a:p>
          <a:p>
            <a:pPr algn="l" marL="746862" indent="-37343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Reporte de retrasos</a:t>
            </a:r>
          </a:p>
          <a:p>
            <a:pPr algn="l" marL="746862" indent="-37343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Reporte de historial</a:t>
            </a:r>
          </a:p>
          <a:p>
            <a:pPr algn="l" marL="746862" indent="-37343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Reporte general de préstamos</a:t>
            </a:r>
          </a:p>
          <a:p>
            <a:pPr algn="l" marL="746862" indent="-373431" lvl="1">
              <a:lnSpc>
                <a:spcPts val="4843"/>
              </a:lnSpc>
              <a:buFont typeface="Arial"/>
              <a:buChar char="•"/>
            </a:pPr>
            <a:r>
              <a:rPr lang="en-US" sz="345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Reporte de pérdidas</a:t>
            </a:r>
          </a:p>
          <a:p>
            <a:pPr algn="l">
              <a:lnSpc>
                <a:spcPts val="484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901000" y="3911951"/>
            <a:ext cx="5151409" cy="532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0446" indent="-300223" lvl="1">
              <a:lnSpc>
                <a:spcPts val="3893"/>
              </a:lnSpc>
              <a:buFont typeface="Arial"/>
              <a:buChar char="•"/>
            </a:pPr>
            <a:r>
              <a:rPr lang="en-US" sz="2781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Una base de datos mejora la organización y búsqueda de información.</a:t>
            </a:r>
          </a:p>
          <a:p>
            <a:pPr algn="l" marL="600446" indent="-300223" lvl="1">
              <a:lnSpc>
                <a:spcPts val="3893"/>
              </a:lnSpc>
              <a:buFont typeface="Arial"/>
              <a:buChar char="•"/>
            </a:pPr>
            <a:r>
              <a:rPr lang="en-US" sz="2781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Facilita el control de préstamos y devoluciones.</a:t>
            </a:r>
          </a:p>
          <a:p>
            <a:pPr algn="l" marL="600446" indent="-300223" lvl="1">
              <a:lnSpc>
                <a:spcPts val="3893"/>
              </a:lnSpc>
              <a:buFont typeface="Arial"/>
              <a:buChar char="•"/>
            </a:pPr>
            <a:r>
              <a:rPr lang="en-US" sz="2781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Reduce errores y pérdidas de información.</a:t>
            </a:r>
          </a:p>
          <a:p>
            <a:pPr algn="l" marL="600446" indent="-300223" lvl="1">
              <a:lnSpc>
                <a:spcPts val="3893"/>
              </a:lnSpc>
              <a:buFont typeface="Arial"/>
              <a:buChar char="•"/>
            </a:pPr>
            <a:r>
              <a:rPr lang="en-US" sz="2781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Mejora la administración de la biblioteca escolar.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686292">
            <a:off x="16139073" y="-2015502"/>
            <a:ext cx="4511165" cy="6723959"/>
          </a:xfrm>
          <a:custGeom>
            <a:avLst/>
            <a:gdLst/>
            <a:ahLst/>
            <a:cxnLst/>
            <a:rect r="r" b="b" t="t" l="l"/>
            <a:pathLst>
              <a:path h="6723959" w="4511165">
                <a:moveTo>
                  <a:pt x="0" y="0"/>
                </a:moveTo>
                <a:lnTo>
                  <a:pt x="4511165" y="0"/>
                </a:lnTo>
                <a:lnTo>
                  <a:pt x="4511165" y="6723959"/>
                </a:lnTo>
                <a:lnTo>
                  <a:pt x="0" y="6723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435650">
            <a:off x="12613841" y="-1955104"/>
            <a:ext cx="4395681" cy="4395681"/>
          </a:xfrm>
          <a:custGeom>
            <a:avLst/>
            <a:gdLst/>
            <a:ahLst/>
            <a:cxnLst/>
            <a:rect r="r" b="b" t="t" l="l"/>
            <a:pathLst>
              <a:path h="4395681" w="4395681">
                <a:moveTo>
                  <a:pt x="0" y="0"/>
                </a:moveTo>
                <a:lnTo>
                  <a:pt x="4395681" y="0"/>
                </a:lnTo>
                <a:lnTo>
                  <a:pt x="4395681" y="4395681"/>
                </a:lnTo>
                <a:lnTo>
                  <a:pt x="0" y="4395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435650">
            <a:off x="15320353" y="2498402"/>
            <a:ext cx="1588795" cy="1761769"/>
          </a:xfrm>
          <a:custGeom>
            <a:avLst/>
            <a:gdLst/>
            <a:ahLst/>
            <a:cxnLst/>
            <a:rect r="r" b="b" t="t" l="l"/>
            <a:pathLst>
              <a:path h="1761769" w="1588795">
                <a:moveTo>
                  <a:pt x="0" y="0"/>
                </a:moveTo>
                <a:lnTo>
                  <a:pt x="1588795" y="0"/>
                </a:lnTo>
                <a:lnTo>
                  <a:pt x="1588795" y="1761769"/>
                </a:lnTo>
                <a:lnTo>
                  <a:pt x="0" y="1761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741058" y="2865673"/>
            <a:ext cx="6070623" cy="110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0"/>
              </a:lnSpc>
            </a:pPr>
            <a:r>
              <a:rPr lang="en-US" sz="7740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Conclusión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75521" y="3424185"/>
            <a:ext cx="9936957" cy="245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19"/>
              </a:lnSpc>
            </a:pPr>
            <a:r>
              <a:rPr lang="en-US" b="true" sz="17219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121943">
            <a:off x="15596687" y="57005"/>
            <a:ext cx="7085175" cy="10560558"/>
          </a:xfrm>
          <a:custGeom>
            <a:avLst/>
            <a:gdLst/>
            <a:ahLst/>
            <a:cxnLst/>
            <a:rect r="r" b="b" t="t" l="l"/>
            <a:pathLst>
              <a:path h="10560558" w="7085175">
                <a:moveTo>
                  <a:pt x="0" y="0"/>
                </a:moveTo>
                <a:lnTo>
                  <a:pt x="7085175" y="0"/>
                </a:lnTo>
                <a:lnTo>
                  <a:pt x="7085175" y="10560558"/>
                </a:lnTo>
                <a:lnTo>
                  <a:pt x="0" y="105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23199" y="-1566513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8" y="0"/>
                </a:lnTo>
                <a:lnTo>
                  <a:pt x="6903798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15019" y="7721649"/>
            <a:ext cx="4626961" cy="5130703"/>
          </a:xfrm>
          <a:custGeom>
            <a:avLst/>
            <a:gdLst/>
            <a:ahLst/>
            <a:cxnLst/>
            <a:rect r="r" b="b" t="t" l="l"/>
            <a:pathLst>
              <a:path h="5130703" w="4626961">
                <a:moveTo>
                  <a:pt x="0" y="0"/>
                </a:moveTo>
                <a:lnTo>
                  <a:pt x="4626961" y="0"/>
                </a:lnTo>
                <a:lnTo>
                  <a:pt x="4626961" y="5130702"/>
                </a:lnTo>
                <a:lnTo>
                  <a:pt x="0" y="5130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DAHKN1SXFWs</dc:identifier>
  <dcterms:modified xsi:type="dcterms:W3CDTF">2011-08-01T06:04:30Z</dcterms:modified>
  <cp:revision>1</cp:revision>
  <dc:title>reporteBase</dc:title>
</cp:coreProperties>
</file>